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46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88952" cy="82296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Democratizing Sustainable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508760"/>
            <a:ext cx="11430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B4D2F0"/>
                </a:solidFill>
                <a:latin typeface="Calibri"/>
              </a:rPr>
              <a:t>Integrating AutoML and AI-Driven Learning Ecosystems to
Bridge STEM in Applied and Vocational Education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834640"/>
            <a:ext cx="5943600" cy="41148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971800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Dr. Tertsegha Joseph Anande, PhD, FHEA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5661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4D2F0"/>
                </a:solidFill>
                <a:latin typeface="Calibri"/>
              </a:rPr>
              <a:t>Lecturer – Computing  |  Deputy Programme Leader
QAHE–Ulster University, Birmingham, UK
Tertsegha.Anande@qa.com  |  www.drtertseghaanande.com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2636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 i="1">
                <a:solidFill>
                  <a:srgbClr val="E6A528"/>
                </a:solidFill>
                <a:latin typeface="Calibri"/>
              </a:rPr>
              <a:t>ICRIEMS 2026  |  Invited Keynote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3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1148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9144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Keynote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170432"/>
            <a:ext cx="566928" cy="566928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1170432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52144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23467"/>
                </a:solidFill>
                <a:latin typeface="Calibri"/>
              </a:rPr>
              <a:t>The Democratisation Imperative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1790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382"/>
                </a:solidFill>
                <a:latin typeface="Calibri"/>
              </a:rPr>
              <a:t>Why vocational AI education is structurally broken — and why AutoML can help fix it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2084832"/>
            <a:ext cx="566928" cy="566928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" y="2084832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66544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23467"/>
                </a:solidFill>
                <a:latin typeface="Calibri"/>
              </a:rPr>
              <a:t>MoSELA AutoML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3230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382"/>
                </a:solidFill>
                <a:latin typeface="Calibri"/>
              </a:rPr>
              <a:t>A modular, open-source framework — workflow diagram &amp; research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999232"/>
            <a:ext cx="566928" cy="566928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" y="2999232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980944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23467"/>
                </a:solidFill>
                <a:latin typeface="Calibri"/>
              </a:rPr>
              <a:t>Digital Transformation Studio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4670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382"/>
                </a:solidFill>
                <a:latin typeface="Calibri"/>
              </a:rPr>
              <a:t>AI-powered formative learning at scale — system architecture &amp; 98%+ pass rate data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" y="3913632"/>
            <a:ext cx="566928" cy="566928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" y="3913632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895344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23467"/>
                </a:solidFill>
                <a:latin typeface="Calibri"/>
              </a:rPr>
              <a:t>Responsible AI in the Curriculum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6110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382"/>
                </a:solidFill>
                <a:latin typeface="Calibri"/>
              </a:rPr>
              <a:t>Explainability, reproducibility and ethical reasoning as core competencies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4828032"/>
            <a:ext cx="566928" cy="566928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1168" y="4828032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809744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23467"/>
                </a:solidFill>
                <a:latin typeface="Calibri"/>
              </a:rPr>
              <a:t>Pedagogical Framework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17550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382"/>
                </a:solidFill>
                <a:latin typeface="Calibri"/>
              </a:rPr>
              <a:t>A four-layer model for scalable AutoML-integrated STEM education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5742432"/>
            <a:ext cx="566928" cy="566928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1168" y="5742432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724144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23467"/>
                </a:solidFill>
                <a:latin typeface="Calibri"/>
              </a:rPr>
              <a:t>Implications &amp; Future Directions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08990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382"/>
                </a:solidFill>
                <a:latin typeface="Calibri"/>
              </a:rPr>
              <a:t>Policy, practice, and open research questions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46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1148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Structural Gap: Why Vocational AI Education Is Falling Behind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1556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8C8C"/>
                </a:solidFill>
                <a:latin typeface="Calibri"/>
              </a:rPr>
              <a:t>The Problem 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00784"/>
            <a:ext cx="182880" cy="18288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72768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4D2F0"/>
                </a:solidFill>
                <a:latin typeface="Calibri"/>
              </a:rPr>
              <a:t>Math-heavy curricula gatekeep learners without strong pre-university STEM backgrounds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560320"/>
            <a:ext cx="182880" cy="18288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432304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4D2F0"/>
                </a:solidFill>
                <a:latin typeface="Calibri"/>
              </a:rPr>
              <a:t>Curriculum review cycles lag 2–3 years behind industrial tool evolution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419856"/>
            <a:ext cx="182880" cy="18288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291840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4D2F0"/>
                </a:solidFill>
                <a:latin typeface="Calibri"/>
              </a:rPr>
              <a:t>Assessments reward recall over adaptive, interdisciplinary reasoning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279392"/>
            <a:ext cx="182880" cy="18288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151376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4D2F0"/>
                </a:solidFill>
                <a:latin typeface="Calibri"/>
              </a:rPr>
              <a:t>Non-traditional students face disproportionate access barriers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5138928"/>
            <a:ext cx="182880" cy="18288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010912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4D2F0"/>
                </a:solidFill>
                <a:latin typeface="Calibri"/>
              </a:rPr>
              <a:t>Graduates arrive in industry ill-equipped for AI-assisted pipelines</a:t>
            </a:r>
          </a:p>
        </p:txBody>
      </p:sp>
      <p:pic>
        <p:nvPicPr>
          <p:cNvPr id="16" name="Picture 15" descr="demand_supply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115568"/>
            <a:ext cx="6126480" cy="38404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852160" y="498348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382"/>
                </a:solidFill>
                <a:latin typeface="Calibri"/>
              </a:rPr>
              <a:t>Source: WEF Future of Jobs (2023); HESA Graduate Outcomes (2023)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5532120"/>
            <a:ext cx="11704320" cy="54864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62356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A528"/>
                </a:solidFill>
                <a:latin typeface="Calibri"/>
              </a:rPr>
              <a:t>SDG 4: Quality Education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562356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A528"/>
                </a:solidFill>
                <a:latin typeface="Calibri"/>
              </a:rPr>
              <a:t>SDG 9: Innovation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562356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A528"/>
                </a:solidFill>
                <a:latin typeface="Calibri"/>
              </a:rPr>
              <a:t>SDG 17: Partnerships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686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AutoML as a Democratising Force — MoSELA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25603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1">
                <a:solidFill>
                  <a:srgbClr val="008C8C"/>
                </a:solidFill>
                <a:latin typeface="Calibri"/>
              </a:rPr>
              <a:t>github.com/Tertsegha1/mosela-automl</a:t>
            </a:r>
          </a:p>
        </p:txBody>
      </p:sp>
      <p:pic>
        <p:nvPicPr>
          <p:cNvPr id="6" name="Picture 5" descr="mosela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51560"/>
            <a:ext cx="1188720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59893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47382"/>
                </a:solidFill>
                <a:latin typeface="Calibri"/>
              </a:rPr>
              <a:t>AutoML redistributes cognitive load — moving learners from mechanical implementation to meaningful interpretation.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9144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MoSELA AutoML — Research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43000"/>
            <a:ext cx="2788920" cy="2057400"/>
          </a:xfrm>
          <a:prstGeom prst="rect">
            <a:avLst/>
          </a:prstGeom>
          <a:solidFill>
            <a:srgbClr val="164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234440"/>
            <a:ext cx="2788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E6A528"/>
                </a:solidFill>
                <a:latin typeface="Calibri"/>
              </a:rPr>
              <a:t>&gt;99%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210312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Attack detection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2487168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008C8C"/>
                </a:solidFill>
                <a:latin typeface="Calibri"/>
              </a:rPr>
              <a:t>multi-class network traffic (Anande et al., 2025)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27832" y="1143000"/>
            <a:ext cx="2788920" cy="2057400"/>
          </a:xfrm>
          <a:prstGeom prst="rect">
            <a:avLst/>
          </a:prstGeom>
          <a:solidFill>
            <a:srgbClr val="164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27832" y="1234440"/>
            <a:ext cx="2788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E6A528"/>
                </a:solidFill>
                <a:latin typeface="Calibri"/>
              </a:rPr>
              <a:t>~100%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7832" y="210312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Meta-classification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27832" y="2487168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008C8C"/>
                </a:solidFill>
                <a:latin typeface="Calibri"/>
              </a:rPr>
              <a:t>imbalanced datasets (Anande &amp; Leeson, 2023)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7064" y="1143000"/>
            <a:ext cx="2788920" cy="2057400"/>
          </a:xfrm>
          <a:prstGeom prst="rect">
            <a:avLst/>
          </a:prstGeom>
          <a:solidFill>
            <a:srgbClr val="164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27064" y="1234440"/>
            <a:ext cx="2788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E6A528"/>
                </a:solidFill>
                <a:latin typeface="Calibri"/>
              </a:rPr>
              <a:t>&gt;80%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7064" y="210312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Learning performance boost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7064" y="2487168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008C8C"/>
                </a:solidFill>
                <a:latin typeface="Calibri"/>
              </a:rPr>
              <a:t>Stack Ensemble Meta-Learning (Anande et al., 2025)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26296" y="1143000"/>
            <a:ext cx="2788920" cy="2057400"/>
          </a:xfrm>
          <a:prstGeom prst="rect">
            <a:avLst/>
          </a:prstGeom>
          <a:solidFill>
            <a:srgbClr val="164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1234440"/>
            <a:ext cx="2788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E6A528"/>
                </a:solidFill>
                <a:latin typeface="Calibri"/>
              </a:rPr>
              <a:t>5+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6296" y="210312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Peer-reviewed publications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6296" y="2487168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008C8C"/>
                </a:solidFill>
                <a:latin typeface="Calibri"/>
              </a:rPr>
              <a:t>ML &amp; cyber-physical security</a:t>
            </a:r>
          </a:p>
        </p:txBody>
      </p:sp>
      <p:pic>
        <p:nvPicPr>
          <p:cNvPr id="21" name="Picture 20" descr="research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337560"/>
            <a:ext cx="7132320" cy="31546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635240" y="33832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8C8C"/>
                </a:solidFill>
                <a:latin typeface="Calibri"/>
              </a:rPr>
              <a:t>Publication Stack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35240" y="3913632"/>
            <a:ext cx="82296" cy="347472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3840480"/>
            <a:ext cx="4160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D2F0"/>
                </a:solidFill>
                <a:latin typeface="Calibri"/>
              </a:rPr>
              <a:t>Anande et al. (2025). Boosting Ensemble Meta-Learning
+ Optuna. SN Computer Science.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35240" y="4626864"/>
            <a:ext cx="82296" cy="347472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45552" y="4553712"/>
            <a:ext cx="4160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D2F0"/>
                </a:solidFill>
                <a:latin typeface="Calibri"/>
              </a:rPr>
              <a:t>Anande &amp; Leeson (2023). GANs + XGBoost for APT
Classification. DeLTA, Springer.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35240" y="5340096"/>
            <a:ext cx="82296" cy="347472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45552" y="5266944"/>
            <a:ext cx="4160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D2F0"/>
                </a:solidFill>
                <a:latin typeface="Calibri"/>
              </a:rPr>
              <a:t>Alsaadi, Anande &amp; Leeson (2024). 1D-CNN vs 2D-CNN
for Network Intrusion. EIDWT, Springer.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35240" y="6053328"/>
            <a:ext cx="82296" cy="347472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45552" y="5980176"/>
            <a:ext cx="4160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D2F0"/>
                </a:solidFill>
                <a:latin typeface="Calibri"/>
              </a:rPr>
              <a:t>Anande &amp; Leeson (2022). GANs Survey: Network
Traffic Generation. IJMLC 12(6).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1148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Digital Transformation Studio &amp; AI-Powered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972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8C8C"/>
                </a:solidFill>
                <a:latin typeface="Calibri"/>
              </a:rPr>
              <a:t>System Architecture</a:t>
            </a:r>
          </a:p>
        </p:txBody>
      </p:sp>
      <p:pic>
        <p:nvPicPr>
          <p:cNvPr id="6" name="Picture 5" descr="dt_studio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11795760" cy="4023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2743200" cy="685800"/>
          </a:xfrm>
          <a:prstGeom prst="rect">
            <a:avLst/>
          </a:prstGeom>
          <a:solidFill>
            <a:srgbClr val="123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76072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6A528"/>
                </a:solidFill>
                <a:latin typeface="Calibri"/>
              </a:rPr>
              <a:t>12 Weeks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76072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Formative scaffold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5760720"/>
            <a:ext cx="2743200" cy="685800"/>
          </a:xfrm>
          <a:prstGeom prst="rect">
            <a:avLst/>
          </a:prstGeom>
          <a:solidFill>
            <a:srgbClr val="123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576072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6A528"/>
                </a:solidFill>
                <a:latin typeface="Calibri"/>
              </a:rPr>
              <a:t>Llama 3.3 70B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576072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Grading engine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5760720"/>
            <a:ext cx="2743200" cy="685800"/>
          </a:xfrm>
          <a:prstGeom prst="rect">
            <a:avLst/>
          </a:prstGeom>
          <a:solidFill>
            <a:srgbClr val="123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576072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6A528"/>
                </a:solidFill>
                <a:latin typeface="Calibri"/>
              </a:rPr>
              <a:t>Zero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576072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Server infrastructure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09760" y="5760720"/>
            <a:ext cx="2743200" cy="685800"/>
          </a:xfrm>
          <a:prstGeom prst="rect">
            <a:avLst/>
          </a:prstGeom>
          <a:solidFill>
            <a:srgbClr val="123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576072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6A528"/>
                </a:solidFill>
                <a:latin typeface="Calibri"/>
              </a:rPr>
              <a:t>98%+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576072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Pass rate achieved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Evidence: CMP701 Outcomes — MSc Digital Transformation 2025–26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15568"/>
            <a:ext cx="2788920" cy="1828800"/>
          </a:xfrm>
          <a:prstGeom prst="rect">
            <a:avLst/>
          </a:prstGeom>
          <a:solidFill>
            <a:srgbClr val="164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170432"/>
            <a:ext cx="2788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E6A528"/>
                </a:solidFill>
                <a:latin typeface="Calibri"/>
              </a:rPr>
              <a:t>98%+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201168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Module Pass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237744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008C8C"/>
                </a:solidFill>
                <a:latin typeface="Calibri"/>
              </a:rPr>
              <a:t>2025–26 cohort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3227832" y="1115568"/>
            <a:ext cx="2788920" cy="1828800"/>
          </a:xfrm>
          <a:prstGeom prst="rect">
            <a:avLst/>
          </a:prstGeom>
          <a:solidFill>
            <a:srgbClr val="164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27832" y="1170432"/>
            <a:ext cx="2788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E6A528"/>
                </a:solidFill>
                <a:latin typeface="Calibri"/>
              </a:rPr>
              <a:t>1.14%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7832" y="201168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Failure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27832" y="237744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008C8C"/>
                </a:solidFill>
                <a:latin typeface="Calibri"/>
              </a:rPr>
              <a:t>vs ~13–19% prior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7064" y="1115568"/>
            <a:ext cx="2788920" cy="1828800"/>
          </a:xfrm>
          <a:prstGeom prst="rect">
            <a:avLst/>
          </a:prstGeom>
          <a:solidFill>
            <a:srgbClr val="164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27064" y="1170432"/>
            <a:ext cx="2788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E6A528"/>
                </a:solidFill>
                <a:latin typeface="Calibri"/>
              </a:rPr>
              <a:t>12 wks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7064" y="201168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Formative Scaffold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7064" y="237744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008C8C"/>
                </a:solidFill>
                <a:latin typeface="Calibri"/>
              </a:rPr>
              <a:t>Guild Quest cadence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26296" y="1115568"/>
            <a:ext cx="2788920" cy="1828800"/>
          </a:xfrm>
          <a:prstGeom prst="rect">
            <a:avLst/>
          </a:prstGeom>
          <a:solidFill>
            <a:srgbClr val="164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1170432"/>
            <a:ext cx="2788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E6A528"/>
                </a:solidFill>
                <a:latin typeface="Calibri"/>
              </a:rPr>
              <a:t>Zero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6296" y="201168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Server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6296" y="237744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008C8C"/>
                </a:solidFill>
                <a:latin typeface="Calibri"/>
              </a:rPr>
              <a:t>browser-only system</a:t>
            </a:r>
          </a:p>
        </p:txBody>
      </p:sp>
      <p:pic>
        <p:nvPicPr>
          <p:cNvPr id="21" name="Picture 20" descr="outcome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090672"/>
            <a:ext cx="8046720" cy="331012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503920" y="31546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8C8C"/>
                </a:solidFill>
                <a:latin typeface="Calibri"/>
              </a:rPr>
              <a:t>Student Voice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20" y="3657600"/>
            <a:ext cx="64008" cy="64008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3657600"/>
            <a:ext cx="3291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4D2F0"/>
                </a:solidFill>
                <a:latin typeface="Calibri"/>
              </a:rPr>
              <a:t>"Instant feedback meant I could improve before I forgot."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03920" y="4645152"/>
            <a:ext cx="64008" cy="64008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4645152"/>
            <a:ext cx="3291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4D2F0"/>
                </a:solidFill>
                <a:latin typeface="Calibri"/>
              </a:rPr>
              <a:t>"Guild Quests kept me accountable — I didn't fall behind for the first time."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5632704"/>
            <a:ext cx="64008" cy="64008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5632704"/>
            <a:ext cx="3291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4D2F0"/>
                </a:solidFill>
                <a:latin typeface="Calibri"/>
              </a:rPr>
              <a:t>"The AI feedback was more detailed than I expected and very fair."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644652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382"/>
                </a:solidFill>
                <a:latin typeface="Calibri"/>
              </a:rPr>
              <a:t>Hattie &amp; Timperley (2007): feedback immediacy is one of the highest-effect educational interventions.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D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1148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Responsible AI in the Curriculum: Beyond Tooling to Disposition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70432"/>
            <a:ext cx="3794760" cy="384048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129844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6A528"/>
                </a:solidFill>
                <a:latin typeface="Calibri"/>
              </a:rPr>
              <a:t>Explainability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" y="1828800"/>
            <a:ext cx="3474720" cy="36576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192024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SHAP value outputs + feature importance are first-class pipeline artefacts.
Learners must answer:
Which features drive predictions — and are they substantively appropriate?</a:t>
            </a:r>
          </a:p>
        </p:txBody>
      </p:sp>
      <p:sp>
        <p:nvSpPr>
          <p:cNvPr id="9" name="Rectangle 8"/>
          <p:cNvSpPr/>
          <p:nvPr/>
        </p:nvSpPr>
        <p:spPr>
          <a:xfrm>
            <a:off x="4233672" y="1170432"/>
            <a:ext cx="3794760" cy="3840480"/>
          </a:xfrm>
          <a:prstGeom prst="rect">
            <a:avLst/>
          </a:prstGeom>
          <a:solidFill>
            <a:srgbClr val="123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98264" y="129844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6A528"/>
                </a:solidFill>
                <a:latin typeface="Calibri"/>
              </a:rPr>
              <a:t>Reproducibility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8264" y="1828800"/>
            <a:ext cx="3474720" cy="36576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8264" y="192024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MLflow logs every config, metric and artefact. Docker ensures consistent execution.
All results must be fully replicable by a peer reviewer.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38744" y="1170432"/>
            <a:ext cx="3794760" cy="3840480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03336" y="129844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6A528"/>
                </a:solidFill>
                <a:latin typeface="Calibri"/>
              </a:rPr>
              <a:t>Ethical Deployment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03336" y="1828800"/>
            <a:ext cx="3474720" cy="36576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03336" y="192024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Champion selection requires explicit accuracy–interpretability trade-offs.
Leakage audits prompt reflection on data provenance and potential downstream harm.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5230368"/>
            <a:ext cx="11704320" cy="36576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53218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23467"/>
                </a:solidFill>
                <a:latin typeface="Calibri"/>
              </a:rPr>
              <a:t>Regulatory Context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742432"/>
            <a:ext cx="128016" cy="128016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5669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91E28"/>
                </a:solidFill>
                <a:latin typeface="Calibri"/>
              </a:rPr>
              <a:t>EU AI Act (2024): high-risk systems must demonstrate transparency &amp; auditability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79392" y="5742432"/>
            <a:ext cx="128016" cy="128016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35424" y="5669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91E28"/>
                </a:solidFill>
                <a:latin typeface="Calibri"/>
              </a:rPr>
              <a:t>UK AI Safety Institute: reproducibility &amp; explainability are foundational to safe deployment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84464" y="5742432"/>
            <a:ext cx="128016" cy="128016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40496" y="5669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91E28"/>
                </a:solidFill>
                <a:latin typeface="Calibri"/>
              </a:rPr>
              <a:t>QAA Computing Benchmark (2023): responsible practice is a required graduate attribute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libri"/>
              </a:rPr>
              <a:t>A Four-Layer Pedagogical Framework for AutoML-Integrated STEM Education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115568"/>
            <a:ext cx="2816352" cy="425196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1161288"/>
            <a:ext cx="28163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" y="1901952"/>
            <a:ext cx="2542032" cy="36576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1993392"/>
            <a:ext cx="2542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A528"/>
                </a:solidFill>
                <a:latin typeface="Calibri"/>
              </a:rPr>
              <a:t>Contextualisation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2633472"/>
            <a:ext cx="254203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Frame a sustainability problem (energy, cities, health). Articulate it as an ML task. Stakeholder analysis + data ethics first.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18688" y="1115568"/>
            <a:ext cx="2816352" cy="4251960"/>
          </a:xfrm>
          <a:prstGeom prst="rect">
            <a:avLst/>
          </a:prstGeom>
          <a:solidFill>
            <a:srgbClr val="007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18688" y="1161288"/>
            <a:ext cx="28163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55848" y="1901952"/>
            <a:ext cx="2542032" cy="36576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55848" y="1993392"/>
            <a:ext cx="2542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A528"/>
                </a:solidFill>
                <a:latin typeface="Calibri"/>
              </a:rPr>
              <a:t>Scaffolded
Exploration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2633472"/>
            <a:ext cx="254203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Use MoSELA AutoML with guided prompts. Attention to profiling reports, leakage warnings, SHAP values. Scaffolding fades as competence grows.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8" y="1115568"/>
            <a:ext cx="2816352" cy="4251960"/>
          </a:xfrm>
          <a:prstGeom prst="rect">
            <a:avLst/>
          </a:prstGeom>
          <a:solidFill>
            <a:srgbClr val="1255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1161288"/>
            <a:ext cx="28163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73368" y="1901952"/>
            <a:ext cx="2542032" cy="36576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2542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A528"/>
                </a:solidFill>
                <a:latin typeface="Calibri"/>
              </a:rPr>
              <a:t>Critical
Reflection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2633472"/>
            <a:ext cx="254203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Does the model generalise? Are features ethically appropriate? What are the consequences of errors in this context? Written/verbal defence.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53728" y="1115568"/>
            <a:ext cx="2816352" cy="4251960"/>
          </a:xfrm>
          <a:prstGeom prst="rect">
            <a:avLst/>
          </a:prstGeom>
          <a:solidFill>
            <a:srgbClr val="123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53728" y="1161288"/>
            <a:ext cx="28163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90888" y="1901952"/>
            <a:ext cx="2542032" cy="36576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90888" y="1993392"/>
            <a:ext cx="2542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A528"/>
                </a:solidFill>
                <a:latin typeface="Calibri"/>
              </a:rPr>
              <a:t>Applied
Production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90888" y="2633472"/>
            <a:ext cx="254203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Deploy via FastAPI. Document for a non-technical stakeholder audience. Connects computation to real-world value creation.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5596128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8C8C"/>
                </a:solidFill>
                <a:latin typeface="Calibri"/>
              </a:rPr>
              <a:t>SDG Alignment: SDG 4 (Quality Education) · SDG 9 (Industry &amp; Innovation) · SDG 17 (Partnerships for the Goals)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035040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B9D7"/>
                </a:solidFill>
                <a:latin typeface="Calibri"/>
              </a:rPr>
              <a:t>WEF Future of Jobs (2023): Analytical thinking, AI literacy &amp; creative problem-solving — top 3 fastest-growing competency demands. This framework addresses all three.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D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1148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Implications &amp; Future Directions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70432"/>
            <a:ext cx="3794760" cy="658368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1188720"/>
            <a:ext cx="35661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For Educators &amp;
Curriculum Designers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03120"/>
            <a:ext cx="109728" cy="109728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93392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E28"/>
                </a:solidFill>
                <a:latin typeface="Calibri"/>
              </a:rPr>
              <a:t>AutoML integration is structural, not enrichment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108960"/>
            <a:ext cx="109728" cy="109728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999232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E28"/>
                </a:solidFill>
                <a:latin typeface="Calibri"/>
              </a:rPr>
              <a:t>Create space for iterative, tool-mediated learning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114800"/>
            <a:ext cx="109728" cy="109728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005072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E28"/>
                </a:solidFill>
                <a:latin typeface="Calibri"/>
              </a:rPr>
              <a:t>Critical AI literacy must accompany technical skills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120640"/>
            <a:ext cx="109728" cy="109728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5010912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E28"/>
                </a:solidFill>
                <a:latin typeface="Calibri"/>
              </a:rPr>
              <a:t>AI assessment tools close the feedback gap at scale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33672" y="1170432"/>
            <a:ext cx="3794760" cy="658368"/>
          </a:xfrm>
          <a:prstGeom prst="rect">
            <a:avLst/>
          </a:prstGeom>
          <a:solidFill>
            <a:srgbClr val="123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1188720"/>
            <a:ext cx="35661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For Institutional
Leaders &amp; QA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70832" y="2103120"/>
            <a:ext cx="109728" cy="109728"/>
          </a:xfrm>
          <a:prstGeom prst="rect">
            <a:avLst/>
          </a:prstGeom>
          <a:solidFill>
            <a:srgbClr val="123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9432" y="1993392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E28"/>
                </a:solidFill>
                <a:latin typeface="Calibri"/>
              </a:rPr>
              <a:t>AI-powered assessment demonstrably improves outcomes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70832" y="3108960"/>
            <a:ext cx="109728" cy="109728"/>
          </a:xfrm>
          <a:prstGeom prst="rect">
            <a:avLst/>
          </a:prstGeom>
          <a:solidFill>
            <a:srgbClr val="123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9432" y="2999232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E28"/>
                </a:solidFill>
                <a:latin typeface="Calibri"/>
              </a:rPr>
              <a:t>Invest in staff capacity to evaluate AI-generated feedback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70832" y="4114800"/>
            <a:ext cx="109728" cy="109728"/>
          </a:xfrm>
          <a:prstGeom prst="rect">
            <a:avLst/>
          </a:prstGeom>
          <a:solidFill>
            <a:srgbClr val="123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9432" y="4005072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E28"/>
                </a:solidFill>
                <a:latin typeface="Calibri"/>
              </a:rPr>
              <a:t>Design assessments that remain meaningful with AI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70832" y="5120640"/>
            <a:ext cx="109728" cy="109728"/>
          </a:xfrm>
          <a:prstGeom prst="rect">
            <a:avLst/>
          </a:prstGeom>
          <a:solidFill>
            <a:srgbClr val="123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9432" y="5010912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E28"/>
                </a:solidFill>
                <a:latin typeface="Calibri"/>
              </a:rPr>
              <a:t>Equitable AI tooling access is a widening-participation issue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38744" y="1170432"/>
            <a:ext cx="3794760" cy="65836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8472" y="1188720"/>
            <a:ext cx="35661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Open Research
Questions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75904" y="2103120"/>
            <a:ext cx="109728" cy="10972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04504" y="1993392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E28"/>
                </a:solidFill>
                <a:latin typeface="Calibri"/>
              </a:rPr>
              <a:t>Longitudinal tracking of AutoML-educated graduate outcomes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75904" y="3108960"/>
            <a:ext cx="109728" cy="10972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04504" y="2999232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E28"/>
                </a:solidFill>
                <a:latin typeface="Calibri"/>
              </a:rPr>
              <a:t>Differential effects by demographics — does it reduce gaps?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75904" y="4114800"/>
            <a:ext cx="109728" cy="10972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04504" y="4005072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E28"/>
                </a:solidFill>
                <a:latin typeface="Calibri"/>
              </a:rPr>
              <a:t>Sector-wide benchmarking for AI assessment tools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75904" y="5120640"/>
            <a:ext cx="109728" cy="109728"/>
          </a:xfrm>
          <a:prstGeom prst="rect">
            <a:avLst/>
          </a:prstGeom>
          <a:solidFill>
            <a:srgbClr val="195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04504" y="5010912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91E28"/>
                </a:solidFill>
                <a:latin typeface="Calibri"/>
              </a:rPr>
              <a:t>Extend MoSELA to multimodal &amp; time-series domains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46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88952" cy="82296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36576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7772400" cy="4572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362456"/>
            <a:ext cx="219456" cy="219456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111556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4D2F0"/>
                </a:solidFill>
                <a:latin typeface="Calibri"/>
              </a:rPr>
              <a:t>AutoML lowers barriers without lowering standards — it redistributes cognitive load toward interpretation &amp; reasoning.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240280"/>
            <a:ext cx="219456" cy="219456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12264"/>
            <a:ext cx="111556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4D2F0"/>
                </a:solidFill>
                <a:latin typeface="Calibri"/>
              </a:rPr>
              <a:t>AI-driven learning ecosystems (DT Studio + automated grading) deliver measurable, scalable improvements in learner outcomes.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118104"/>
            <a:ext cx="219456" cy="219456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990088"/>
            <a:ext cx="111556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4D2F0"/>
                </a:solidFill>
                <a:latin typeface="Calibri"/>
              </a:rPr>
              <a:t>Responsible AI competencies — explainability, reproducibility, ethical deployment — can and must be taught through doing.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995928"/>
            <a:ext cx="219456" cy="219456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867912"/>
            <a:ext cx="111556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4D2F0"/>
                </a:solidFill>
                <a:latin typeface="Calibri"/>
              </a:rPr>
              <a:t>The four-layer model provides a practical curriculum template for any applied STEM programme.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4873752"/>
            <a:ext cx="219456" cy="219456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745736"/>
            <a:ext cx="111556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4D2F0"/>
                </a:solidFill>
                <a:latin typeface="Calibri"/>
              </a:rPr>
              <a:t>The future of vocational STEM education is intelligent, scalable, and inclusive. And it is already underway.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5779008"/>
            <a:ext cx="11430000" cy="54864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589788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1">
                <a:solidFill>
                  <a:srgbClr val="E6A528"/>
                </a:solidFill>
                <a:latin typeface="Calibri"/>
              </a:rPr>
              <a:t>"The future of vocational STEM education is intelligent, scalable, and inclusive."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D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1148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Key References &amp; Contact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53312"/>
            <a:ext cx="91440" cy="9144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91E28"/>
                </a:solidFill>
                <a:latin typeface="Calibri"/>
              </a:rPr>
              <a:t>Anande, T.J., Alsaadi, S. &amp; Leeson, M. (2025). Enhanced Modelling with Boosting Ensemble Meta-Learning + Optuna. SN Computer Science, 6.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75104"/>
            <a:ext cx="91440" cy="9144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92224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91E28"/>
                </a:solidFill>
                <a:latin typeface="Calibri"/>
              </a:rPr>
              <a:t>Anande, T.J. &amp; Leeson, M.S. (2023). Synthetic Network Traffic Data Generation &amp; APT Classification (GANs + XGBoost). DeLTA, Springer.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596896"/>
            <a:ext cx="91440" cy="9144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414016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91E28"/>
                </a:solidFill>
                <a:latin typeface="Calibri"/>
              </a:rPr>
              <a:t>Alsaadi, S., Anande, T.J. &amp; Leeson, M.S. (2024). 1D-CNN vs 2D-CNN for Network Intrusion Detection in SDN. EIDWT, Springer.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218688"/>
            <a:ext cx="91440" cy="9144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035808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91E28"/>
                </a:solidFill>
                <a:latin typeface="Calibri"/>
              </a:rPr>
              <a:t>Anande, T.J. &amp; Leeson, M.S. (2022). GANs: A Survey of Network Traffic Generation. IJMLC, 12(6), 333–343.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840480"/>
            <a:ext cx="91440" cy="9144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657600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91E28"/>
                </a:solidFill>
                <a:latin typeface="Calibri"/>
              </a:rPr>
              <a:t>Hattie, J. &amp; Timperley, H. (2007). The power of feedback. Review of Educational Research, 77(1), 81–112.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462272"/>
            <a:ext cx="91440" cy="9144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279392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91E28"/>
                </a:solidFill>
                <a:latin typeface="Calibri"/>
              </a:rPr>
              <a:t>World Economic Forum (2023). Future of Jobs Report 2023.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084064"/>
            <a:ext cx="91440" cy="9144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901184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91E28"/>
                </a:solidFill>
                <a:latin typeface="Calibri"/>
              </a:rPr>
              <a:t>UNESCO (2021). Reimagining our futures together: A new social contract for education.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532120"/>
            <a:ext cx="11704320" cy="1005840"/>
          </a:xfrm>
          <a:prstGeom prst="rect">
            <a:avLst/>
          </a:prstGeom>
          <a:solidFill>
            <a:srgbClr val="123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59612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Dr. Tertsegha Joseph Anande, PhD, FHEA  |  QAHE–Ulster University, Birmingham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035040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8C8C"/>
                </a:solidFill>
                <a:latin typeface="Calibri"/>
              </a:rPr>
              <a:t>Tertsegha.Anande@qa.com  |  www.drtertseghaanande.com  |  github.com/Tertsegha1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57607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E6A528"/>
                </a:solidFill>
                <a:latin typeface="Calibri"/>
              </a:rPr>
              <a:t>ICRIEMS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